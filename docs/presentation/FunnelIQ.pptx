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שער. האפליקציה החיה: funneliq.onrender.com. הפעלה ראשונה עשויה לקחת עד כ-45 שניות (cold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הבריף (FunnelIQ_Assignment.html), סעיף ההקשר העסקי. תרגום חופשי לעברית, בלי לייחס למייסדת מגדר.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חמש שאלות המייסדת, לפי REPORT.md 'התשובות בקצרה'. כל שאלה מקבלת שקף משלה (6-10).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§Architecture. Supabase: אין קישור ציבורי, מופיע בתרשים בלבד (D6). Render במקום Railway: סטייה מאושרת, הבריף §07.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צילום: מסך הסקירה הכללית באפליקציה החיה, ללא חיתוך. מבנה התשובה (מה זה אומר / מה כדאי לעשות / חשוב לדעת) כפי שמופיע בכל המסכים.</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REPORT.md 'התשובות בקצרה' סעיף 1, §2 (P2, Holdout RMSE 2.70). צילום: מסך תחזיות, דוגמה 1, כרטיס P2 מימין.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REPORT.md סעיף 2 בתשובות בקצרה, §3 (Holdout 633 שורות: 76.15% מול 53.71%). שני המספרים נלקחו כפי שהם.</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REPORT.md §4 (פרופיל לקוחות-העל; P4S Holdout: ב-Mid AUC 0.528). צילום: מסך ציון לקוח-על, דוגמה עם תוצאה.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REPORT.md §5 (נשירה: 21.7, 25.7, 18.6, 10.4, 29.2). צילום: מסך מעקב שיחות.</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REPORT.md §6 (טבלת האסטרטגיות, ה-backtest וההמלצה). צילום: מסך תקציב ₪50,000.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REPORT.md §7 (בחירת מודל, כלל One-SE), §2-§6 (הרצת המודלים), §9 (כיול sigmoid, SHAP; טווחי ביטחון: conformal ב-P2, bootstrap בתקציב). משימות פנימיות: P2, P3, P4, P4S, P6.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README, ROADMAP פאזה 3-4. הצילום חתוך רק בשטח הלבן שמתחת לתוכן. בלי סיסמאות או טוקנים (D5).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קישורים לפי D6. ⚠ כתובת ROADMAP ב-Pages צפויה ואינה מאומתת עד CP7. Supabase אין קישור ציבורי.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unneliq.onrender.com"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funneliq.onrender.com" TargetMode="External"/><Relationship Id="rId3" Type="http://schemas.openxmlformats.org/officeDocument/2006/relationships/hyperlink" Target="https://funneliq.onrender.com/health" TargetMode="External"/><Relationship Id="rId4" Type="http://schemas.openxmlformats.org/officeDocument/2006/relationships/hyperlink" Target="https://funneliq.onrender.com/docs" TargetMode="External"/><Relationship Id="rId5" Type="http://schemas.openxmlformats.org/officeDocument/2006/relationships/hyperlink" Target="https://github.com/drorsh88AI/funneliq-marketing-intelligence" TargetMode="External"/><Relationship Id="rId6" Type="http://schemas.openxmlformats.org/officeDocument/2006/relationships/hyperlink" Target="https://github.com/drorsh88AI/funneliq-marketing-intelligence/actions" TargetMode="External"/><Relationship Id="rId7" Type="http://schemas.openxmlformats.org/officeDocument/2006/relationships/hyperlink" Target="https://github.com/drorsh88AI/funneliq-marketing-intelligence/pulls?q=is%3Apr" TargetMode="External"/><Relationship Id="rId8" Type="http://schemas.openxmlformats.org/officeDocument/2006/relationships/hyperlink" Target="https://github.com/drorsh88AI/funneliq-marketing-intelligence/blob/main/README.md" TargetMode="External"/><Relationship Id="rId9" Type="http://schemas.openxmlformats.org/officeDocument/2006/relationships/hyperlink" Target="https://github.com/drorsh88AI/funneliq-marketing-intelligence/blob/main/REPORT.md" TargetMode="External"/><Relationship Id="rId10" Type="http://schemas.openxmlformats.org/officeDocument/2006/relationships/hyperlink" Target="https://drorsh88ai.github.io/funneliq-marketing-intelligence/FunnelIQ_Assignment.html" TargetMode="External"/><Relationship Id="rId11" Type="http://schemas.openxmlformats.org/officeDocument/2006/relationships/hyperlink" Target="https://drorsh88ai.github.io/funneliq-marketing-intelligence/ROADMAP.html" TargetMode="External"/><Relationship Id="rId1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1280160"/>
          </a:xfrm>
          <a:prstGeom prst="rect">
            <a:avLst/>
          </a:prstGeom>
          <a:noFill/>
        </p:spPr>
        <p:txBody>
          <a:bodyPr wrap="square">
            <a:spAutoFit/>
          </a:bodyPr>
          <a:lstStyle/>
          <a:p>
            <a:pPr algn="r" rtl="1">
              <a:spcAft>
                <a:spcPts val="1200"/>
              </a:spcAft>
            </a:pPr>
            <a:r>
              <a:rPr sz="6600" b="1" lang="he-IL">
                <a:solidFill>
                  <a:srgbClr val="FFFFFF"/>
                </a:solidFill>
                <a:latin typeface="Segoe UI"/>
                <a:cs typeface="Segoe UI"/>
              </a:rPr>
              <a:t>FunnelIQ</a:t>
            </a:r>
          </a:p>
        </p:txBody>
      </p:sp>
      <p:sp>
        <p:nvSpPr>
          <p:cNvPr id="4" name="TextBox 3"/>
          <p:cNvSpPr txBox="1"/>
          <p:nvPr/>
        </p:nvSpPr>
        <p:spPr>
          <a:xfrm>
            <a:off x="731520" y="3200400"/>
            <a:ext cx="10698480" cy="1463040"/>
          </a:xfrm>
          <a:prstGeom prst="rect">
            <a:avLst/>
          </a:prstGeom>
          <a:noFill/>
        </p:spPr>
        <p:txBody>
          <a:bodyPr wrap="square">
            <a:spAutoFit/>
          </a:bodyPr>
          <a:lstStyle/>
          <a:p>
            <a:pPr algn="r" rtl="1">
              <a:spcAft>
                <a:spcPts val="1200"/>
              </a:spcAft>
            </a:pPr>
            <a:r>
              <a:rPr sz="3000" b="0" lang="he-IL">
                <a:solidFill>
                  <a:srgbClr val="FFFFFF"/>
                </a:solidFill>
                <a:latin typeface="Segoe UI"/>
                <a:cs typeface="Segoe UI"/>
              </a:rPr>
              <a:t>כלי פנימי שעונה לצוות של Northbound Media על חמש שאלות על משפך המכירות</a:t>
            </a:r>
          </a:p>
        </p:txBody>
      </p:sp>
      <p:sp>
        <p:nvSpPr>
          <p:cNvPr id="5" name="TextBox 4"/>
          <p:cNvSpPr txBox="1"/>
          <p:nvPr/>
        </p:nvSpPr>
        <p:spPr>
          <a:xfrm>
            <a:off x="731520" y="4937760"/>
            <a:ext cx="10698480" cy="548640"/>
          </a:xfrm>
          <a:prstGeom prst="rect">
            <a:avLst/>
          </a:prstGeom>
          <a:noFill/>
        </p:spPr>
        <p:txBody>
          <a:bodyPr wrap="square">
            <a:spAutoFit/>
          </a:bodyPr>
          <a:lstStyle/>
          <a:p>
            <a:pPr algn="r" rtl="1">
              <a:spcAft>
                <a:spcPts val="1200"/>
              </a:spcAft>
            </a:pPr>
            <a:r>
              <a:rPr sz="2000" b="0" lang="he-IL">
                <a:solidFill>
                  <a:srgbClr val="DBE4FF"/>
                </a:solidFill>
                <a:latin typeface="Segoe UI"/>
                <a:cs typeface="Segoe UI"/>
              </a:rPr>
              <a:t>מצגת סיכום לפרויקט הגמר</a:t>
            </a:r>
          </a:p>
        </p:txBody>
      </p:sp>
      <p:sp>
        <p:nvSpPr>
          <p:cNvPr id="6" name="TextBox 5"/>
          <p:cNvSpPr txBox="1"/>
          <p:nvPr/>
        </p:nvSpPr>
        <p:spPr>
          <a:xfrm>
            <a:off x="731520" y="5760720"/>
            <a:ext cx="10698480" cy="548640"/>
          </a:xfrm>
          <a:prstGeom prst="rect">
            <a:avLst/>
          </a:prstGeom>
          <a:noFill/>
        </p:spPr>
        <p:txBody>
          <a:bodyPr wrap="square">
            <a:spAutoFit/>
          </a:bodyPr>
          <a:lstStyle/>
          <a:p>
            <a:pPr algn="r" rtl="1">
              <a:spcAft>
                <a:spcPts val="1200"/>
              </a:spcAft>
            </a:pPr>
            <a:r>
              <a:rPr sz="2000" b="0" lang="he-IL">
                <a:solidFill>
                  <a:srgbClr val="FFFFFF"/>
                </a:solidFill>
                <a:latin typeface="Segoe UI"/>
                <a:cs typeface="Segoe UI"/>
                <a:hlinkClick r:id="rId2"/>
              </a:rPr>
              <a:t>funneliq.onrender.com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הבעיה העסקית</a:t>
            </a:r>
          </a:p>
        </p:txBody>
      </p:sp>
      <p:sp>
        <p:nvSpPr>
          <p:cNvPr id="4" name="Rectangle 3"/>
          <p:cNvSpPr/>
          <p:nvPr/>
        </p:nvSpPr>
        <p:spPr>
          <a:xfrm>
            <a:off x="11475720" y="1600200"/>
            <a:ext cx="91440" cy="2377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554480"/>
            <a:ext cx="10149840" cy="3474720"/>
          </a:xfrm>
          <a:prstGeom prst="rect">
            <a:avLst/>
          </a:prstGeom>
          <a:noFill/>
        </p:spPr>
        <p:txBody>
          <a:bodyPr wrap="square">
            <a:spAutoFit/>
          </a:bodyPr>
          <a:lstStyle/>
          <a:p>
            <a:pPr algn="r" rtl="1">
              <a:spcAft>
                <a:spcPts val="1200"/>
              </a:spcAft>
            </a:pPr>
            <a:r>
              <a:rPr sz="2800" b="0" lang="he-IL">
                <a:solidFill>
                  <a:srgbClr val="1A1A1A"/>
                </a:solidFill>
                <a:latin typeface="Segoe UI"/>
                <a:cs typeface="Segoe UI"/>
              </a:rPr>
              <a:t>”אנחנו מוציאים הון על פרסום, אבל אין לי דרך לומר מה גורם ללקוח להישאר, לקנות עוד או להפנות חבר. אנחנו מבצעים אופטימיזציה לפי תחושת בטן. המכירות רוצים לקצץ במעקבים אחרי השיחה השלישית; הכספים רוצים לקצץ בתקציב הפרסום. לאף אחד אין ראיות.“</a:t>
            </a:r>
          </a:p>
        </p:txBody>
      </p:sp>
      <p:sp>
        <p:nvSpPr>
          <p:cNvPr id="6" name="TextBox 5"/>
          <p:cNvSpPr txBox="1"/>
          <p:nvPr/>
        </p:nvSpPr>
        <p:spPr>
          <a:xfrm>
            <a:off x="1097280" y="4114800"/>
            <a:ext cx="10149840" cy="457200"/>
          </a:xfrm>
          <a:prstGeom prst="rect">
            <a:avLst/>
          </a:prstGeom>
          <a:noFill/>
        </p:spPr>
        <p:txBody>
          <a:bodyPr wrap="square">
            <a:spAutoFit/>
          </a:bodyPr>
          <a:lstStyle/>
          <a:p>
            <a:pPr algn="r" rtl="1">
              <a:spcAft>
                <a:spcPts val="1200"/>
              </a:spcAft>
            </a:pPr>
            <a:r>
              <a:rPr sz="1800" b="0" lang="he-IL">
                <a:solidFill>
                  <a:srgbClr val="4B5563"/>
                </a:solidFill>
                <a:latin typeface="Segoe UI"/>
                <a:cs typeface="Segoe UI"/>
              </a:rPr>
              <a:t>המייסדת של Northbound Media, בתרגום חופשי מהבריף</a:t>
            </a:r>
          </a:p>
        </p:txBody>
      </p:sp>
      <p:sp>
        <p:nvSpPr>
          <p:cNvPr id="7" name="TextBox 6"/>
          <p:cNvSpPr txBox="1"/>
          <p:nvPr/>
        </p:nvSpPr>
        <p:spPr>
          <a:xfrm>
            <a:off x="548640" y="5120640"/>
            <a:ext cx="11064240" cy="731520"/>
          </a:xfrm>
          <a:prstGeom prst="rect">
            <a:avLst/>
          </a:prstGeom>
          <a:noFill/>
        </p:spPr>
        <p:txBody>
          <a:bodyPr wrap="square">
            <a:spAutoFit/>
          </a:bodyPr>
          <a:lstStyle/>
          <a:p>
            <a:pPr algn="r" rtl="1">
              <a:spcAft>
                <a:spcPts val="1200"/>
              </a:spcAft>
            </a:pPr>
            <a:r>
              <a:rPr sz="2400" b="1" lang="he-IL">
                <a:solidFill>
                  <a:srgbClr val="2563EB"/>
                </a:solidFill>
                <a:latin typeface="Segoe UI"/>
                <a:cs typeface="Segoe UI"/>
              </a:rPr>
              <a:t>המשימה: </a:t>
            </a:r>
            <a:r>
              <a:rPr sz="2400" b="0" lang="he-IL">
                <a:solidFill>
                  <a:srgbClr val="1A1A1A"/>
                </a:solidFill>
                <a:latin typeface="Segoe UI"/>
                <a:cs typeface="Segoe UI"/>
              </a:rPr>
              <a:t>להפסיק לנחש ולהתחיל לדעת — ככלי שהצוות מתחבר אליו ומשתמש בו.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המטרה: חמש שאלות, חמישה מסכים</a:t>
            </a:r>
          </a:p>
        </p:txBody>
      </p:sp>
      <p:sp>
        <p:nvSpPr>
          <p:cNvPr id="4" name="TextBox 3"/>
          <p:cNvSpPr txBox="1"/>
          <p:nvPr/>
        </p:nvSpPr>
        <p:spPr>
          <a:xfrm>
            <a:off x="548640" y="1325880"/>
            <a:ext cx="11064240" cy="731520"/>
          </a:xfrm>
          <a:prstGeom prst="rect">
            <a:avLst/>
          </a:prstGeom>
          <a:noFill/>
        </p:spPr>
        <p:txBody>
          <a:bodyPr wrap="square">
            <a:spAutoFit/>
          </a:bodyPr>
          <a:lstStyle/>
          <a:p>
            <a:pPr algn="r" rtl="1">
              <a:spcAft>
                <a:spcPts val="1200"/>
              </a:spcAft>
            </a:pPr>
            <a:r>
              <a:rPr sz="2200" b="0" lang="he-IL">
                <a:solidFill>
                  <a:srgbClr val="4B5563"/>
                </a:solidFill>
                <a:latin typeface="Segoe UI"/>
                <a:cs typeface="Segoe UI"/>
              </a:rPr>
              <a:t>FunnelIQ הופך את הנתונים של Northbound לתשובות שהצוות יכול להשתמש בהן.</a:t>
            </a:r>
          </a:p>
        </p:txBody>
      </p:sp>
      <p:sp>
        <p:nvSpPr>
          <p:cNvPr id="5" name="TextBox 4"/>
          <p:cNvSpPr txBox="1"/>
          <p:nvPr/>
        </p:nvSpPr>
        <p:spPr>
          <a:xfrm>
            <a:off x="822960" y="2286000"/>
            <a:ext cx="10515600" cy="3840480"/>
          </a:xfrm>
          <a:prstGeom prst="rect">
            <a:avLst/>
          </a:prstGeom>
          <a:noFill/>
        </p:spPr>
        <p:txBody>
          <a:bodyPr wrap="square">
            <a:spAutoFit/>
          </a:bodyPr>
          <a:lstStyle/>
          <a:p>
            <a:pPr algn="r" rtl="1">
              <a:spcAft>
                <a:spcPts val="2200"/>
              </a:spcAft>
            </a:pPr>
            <a:r>
              <a:rPr sz="2800" b="1" lang="he-IL">
                <a:solidFill>
                  <a:srgbClr val="2563EB"/>
                </a:solidFill>
                <a:latin typeface="Segoe UI"/>
                <a:cs typeface="Segoe UI"/>
              </a:rPr>
              <a:t>כמה זמן לקוח חדש יישאר?</a:t>
            </a:r>
            <a:r>
              <a:rPr sz="2800" b="0" lang="he-IL">
                <a:solidFill>
                  <a:srgbClr val="1A1A1A"/>
                </a:solidFill>
                <a:latin typeface="Segoe UI"/>
                <a:cs typeface="Segoe UI"/>
              </a:rPr>
              <a:t>  —  מסך: תחזיות</a:t>
            </a:r>
          </a:p>
          <a:p>
            <a:pPr algn="r" rtl="1">
              <a:spcAft>
                <a:spcPts val="2200"/>
              </a:spcAft>
            </a:pPr>
            <a:r>
              <a:rPr sz="2800" b="1" lang="he-IL">
                <a:solidFill>
                  <a:srgbClr val="2563EB"/>
                </a:solidFill>
                <a:latin typeface="Segoe UI"/>
                <a:cs typeface="Segoe UI"/>
              </a:rPr>
              <a:t>מי צפוי לקנות עוד?</a:t>
            </a:r>
            <a:r>
              <a:rPr sz="2800" b="0" lang="he-IL">
                <a:solidFill>
                  <a:srgbClr val="1A1A1A"/>
                </a:solidFill>
                <a:latin typeface="Segoe UI"/>
                <a:cs typeface="Segoe UI"/>
              </a:rPr>
              <a:t>  —  מסך: תחזיות</a:t>
            </a:r>
          </a:p>
          <a:p>
            <a:pPr algn="r" rtl="1">
              <a:spcAft>
                <a:spcPts val="2200"/>
              </a:spcAft>
            </a:pPr>
            <a:r>
              <a:rPr sz="2800" b="1" lang="he-IL">
                <a:solidFill>
                  <a:srgbClr val="2563EB"/>
                </a:solidFill>
                <a:latin typeface="Segoe UI"/>
                <a:cs typeface="Segoe UI"/>
              </a:rPr>
              <a:t>מי יהפוך ללקוח-על?</a:t>
            </a:r>
            <a:r>
              <a:rPr sz="2800" b="0" lang="he-IL">
                <a:solidFill>
                  <a:srgbClr val="1A1A1A"/>
                </a:solidFill>
                <a:latin typeface="Segoe UI"/>
                <a:cs typeface="Segoe UI"/>
              </a:rPr>
              <a:t>  —  מסך: ציון לקוח-על</a:t>
            </a:r>
          </a:p>
          <a:p>
            <a:pPr algn="r" rtl="1">
              <a:spcAft>
                <a:spcPts val="2200"/>
              </a:spcAft>
            </a:pPr>
            <a:r>
              <a:rPr sz="2800" b="1" lang="he-IL">
                <a:solidFill>
                  <a:srgbClr val="2563EB"/>
                </a:solidFill>
                <a:latin typeface="Segoe UI"/>
                <a:cs typeface="Segoe UI"/>
              </a:rPr>
              <a:t>האם מעקבים מאוחרים הם בזבוז זמן?</a:t>
            </a:r>
            <a:r>
              <a:rPr sz="2800" b="0" lang="he-IL">
                <a:solidFill>
                  <a:srgbClr val="1A1A1A"/>
                </a:solidFill>
                <a:latin typeface="Segoe UI"/>
                <a:cs typeface="Segoe UI"/>
              </a:rPr>
              <a:t>  —  מסך: מעקב שיחות</a:t>
            </a:r>
          </a:p>
          <a:p>
            <a:pPr algn="r" rtl="1">
              <a:spcAft>
                <a:spcPts val="2200"/>
              </a:spcAft>
            </a:pPr>
            <a:r>
              <a:rPr sz="2800" b="1" lang="he-IL">
                <a:solidFill>
                  <a:srgbClr val="2563EB"/>
                </a:solidFill>
                <a:latin typeface="Segoe UI"/>
                <a:cs typeface="Segoe UI"/>
              </a:rPr>
              <a:t>לאן להפנות את תקציב הפרסום?</a:t>
            </a:r>
            <a:r>
              <a:rPr sz="2800" b="0" lang="he-IL">
                <a:solidFill>
                  <a:srgbClr val="1A1A1A"/>
                </a:solidFill>
                <a:latin typeface="Segoe UI"/>
                <a:cs typeface="Segoe UI"/>
              </a:rPr>
              <a:t>  —  מסך: תקציב</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מה נבנה</a:t>
            </a:r>
          </a:p>
        </p:txBody>
      </p:sp>
      <p:sp>
        <p:nvSpPr>
          <p:cNvPr id="4" name="Rounded Rectangle 3"/>
          <p:cNvSpPr/>
          <p:nvPr/>
        </p:nvSpPr>
        <p:spPr>
          <a:xfrm>
            <a:off x="8412480" y="1737360"/>
            <a:ext cx="3200400" cy="201168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ctr" rtl="1">
              <a:spcAft>
                <a:spcPts val="600"/>
              </a:spcAft>
            </a:pPr>
            <a:r>
              <a:rPr sz="2800" b="1" lang="he-IL">
                <a:solidFill>
                  <a:srgbClr val="2563EB"/>
                </a:solidFill>
                <a:latin typeface="Segoe UI"/>
                <a:cs typeface="Segoe UI"/>
              </a:rPr>
              <a:t>הדפדפן</a:t>
            </a:r>
          </a:p>
          <a:p>
            <a:pPr algn="ctr" rtl="1">
              <a:spcAft>
                <a:spcPts val="600"/>
              </a:spcAft>
            </a:pPr>
            <a:r>
              <a:rPr sz="2200" b="0" lang="he-IL">
                <a:solidFill>
                  <a:srgbClr val="1A1A1A"/>
                </a:solidFill>
                <a:latin typeface="Segoe UI"/>
                <a:cs typeface="Segoe UI"/>
              </a:rPr>
              <a:t>הצוות מתחבר עם משתמש וסיסמה</a:t>
            </a:r>
          </a:p>
        </p:txBody>
      </p:sp>
      <p:sp>
        <p:nvSpPr>
          <p:cNvPr id="5" name="Rounded Rectangle 4"/>
          <p:cNvSpPr/>
          <p:nvPr/>
        </p:nvSpPr>
        <p:spPr>
          <a:xfrm>
            <a:off x="4480560" y="1737360"/>
            <a:ext cx="3200400" cy="201168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ctr" rtl="1">
              <a:spcAft>
                <a:spcPts val="600"/>
              </a:spcAft>
            </a:pPr>
            <a:r>
              <a:rPr sz="2800" b="1" lang="he-IL">
                <a:solidFill>
                  <a:srgbClr val="2563EB"/>
                </a:solidFill>
                <a:latin typeface="Segoe UI"/>
                <a:cs typeface="Segoe UI"/>
              </a:rPr>
              <a:t>שרת API</a:t>
            </a:r>
          </a:p>
          <a:p>
            <a:pPr algn="ctr" rtl="1">
              <a:spcAft>
                <a:spcPts val="600"/>
              </a:spcAft>
            </a:pPr>
            <a:r>
              <a:rPr sz="2200" b="0" lang="he-IL">
                <a:solidFill>
                  <a:srgbClr val="1A1A1A"/>
                </a:solidFill>
                <a:latin typeface="Segoe UI"/>
                <a:cs typeface="Segoe UI"/>
              </a:rPr>
              <a:t>פרוס ב-Render, מריץ את המודלים</a:t>
            </a:r>
          </a:p>
        </p:txBody>
      </p:sp>
      <p:sp>
        <p:nvSpPr>
          <p:cNvPr id="6" name="Rounded Rectangle 5"/>
          <p:cNvSpPr/>
          <p:nvPr/>
        </p:nvSpPr>
        <p:spPr>
          <a:xfrm>
            <a:off x="548640" y="1737360"/>
            <a:ext cx="3200400" cy="201168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ctr" rtl="1">
              <a:spcAft>
                <a:spcPts val="600"/>
              </a:spcAft>
            </a:pPr>
            <a:r>
              <a:rPr sz="2800" b="1" lang="he-IL">
                <a:solidFill>
                  <a:srgbClr val="2563EB"/>
                </a:solidFill>
                <a:latin typeface="Segoe UI"/>
                <a:cs typeface="Segoe UI"/>
              </a:rPr>
              <a:t>Supabase</a:t>
            </a:r>
          </a:p>
          <a:p>
            <a:pPr algn="ctr" rtl="1">
              <a:spcAft>
                <a:spcPts val="600"/>
              </a:spcAft>
            </a:pPr>
            <a:r>
              <a:rPr sz="2200" b="0" lang="he-IL">
                <a:solidFill>
                  <a:srgbClr val="1A1A1A"/>
                </a:solidFill>
                <a:latin typeface="Segoe UI"/>
                <a:cs typeface="Segoe UI"/>
              </a:rPr>
              <a:t>מסד נתונים, התחברות והרשאות לכל משתמש</a:t>
            </a:r>
          </a:p>
        </p:txBody>
      </p:sp>
      <p:sp>
        <p:nvSpPr>
          <p:cNvPr id="7" name="Left Arrow 6"/>
          <p:cNvSpPr/>
          <p:nvPr/>
        </p:nvSpPr>
        <p:spPr>
          <a:xfrm>
            <a:off x="7973568" y="2468880"/>
            <a:ext cx="420624" cy="548640"/>
          </a:xfrm>
          <a:prstGeom prst="lef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eft Arrow 7"/>
          <p:cNvSpPr/>
          <p:nvPr/>
        </p:nvSpPr>
        <p:spPr>
          <a:xfrm>
            <a:off x="4041648" y="2468880"/>
            <a:ext cx="420624" cy="548640"/>
          </a:xfrm>
          <a:prstGeom prst="lef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4297680"/>
            <a:ext cx="11064240" cy="109728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ctr" rtl="1">
              <a:spcAft>
                <a:spcPts val="600"/>
              </a:spcAft>
            </a:pPr>
            <a:r>
              <a:rPr sz="2200" b="0" lang="he-IL">
                <a:solidFill>
                  <a:srgbClr val="1A1A1A"/>
                </a:solidFill>
                <a:latin typeface="Segoe UI"/>
                <a:cs typeface="Segoe UI"/>
              </a:rPr>
              <a:t>הקוד ב-GitHub, ובדיקות אוטומטיות (CI) רצות על כל שינוי</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איך משתמשים</a:t>
            </a:r>
          </a:p>
        </p:txBody>
      </p:sp>
      <p:pic>
        <p:nvPicPr>
          <p:cNvPr id="4" name="Picture 3" descr="image.png"/>
          <p:cNvPicPr>
            <a:picLocks noChangeAspect="1"/>
          </p:cNvPicPr>
          <p:nvPr/>
        </p:nvPicPr>
        <p:blipFill>
          <a:blip r:embed="rId2"/>
          <a:stretch>
            <a:fillRect/>
          </a:stretch>
        </p:blipFill>
        <p:spPr>
          <a:xfrm>
            <a:off x="743874" y="1371600"/>
            <a:ext cx="3450012" cy="5212080"/>
          </a:xfrm>
          <a:prstGeom prst="rect">
            <a:avLst/>
          </a:prstGeom>
          <a:ln w="12700">
            <a:solidFill>
              <a:srgbClr val="D1D5DB"/>
            </a:solidFill>
          </a:ln>
        </p:spPr>
      </p:pic>
      <p:sp>
        <p:nvSpPr>
          <p:cNvPr id="5" name="TextBox 4"/>
          <p:cNvSpPr txBox="1"/>
          <p:nvPr/>
        </p:nvSpPr>
        <p:spPr>
          <a:xfrm>
            <a:off x="4754880" y="1554480"/>
            <a:ext cx="6858000" cy="4754880"/>
          </a:xfrm>
          <a:prstGeom prst="rect">
            <a:avLst/>
          </a:prstGeom>
          <a:noFill/>
        </p:spPr>
        <p:txBody>
          <a:bodyPr wrap="square">
            <a:spAutoFit/>
          </a:bodyPr>
          <a:lstStyle/>
          <a:p>
            <a:pPr algn="r" rtl="1">
              <a:spcAft>
                <a:spcPts val="2000"/>
              </a:spcAft>
            </a:pPr>
            <a:r>
              <a:rPr sz="2400" b="0" lang="he-IL">
                <a:solidFill>
                  <a:srgbClr val="1A1A1A"/>
                </a:solidFill>
                <a:latin typeface="Segoe UI"/>
                <a:cs typeface="Segoe UI"/>
              </a:rPr>
              <a:t>1.  נכנסים עם משתמש וסיסמה</a:t>
            </a:r>
          </a:p>
          <a:p>
            <a:pPr algn="r" rtl="1">
              <a:spcAft>
                <a:spcPts val="2000"/>
              </a:spcAft>
            </a:pPr>
            <a:r>
              <a:rPr sz="2400" b="0" lang="he-IL">
                <a:solidFill>
                  <a:srgbClr val="1A1A1A"/>
                </a:solidFill>
                <a:latin typeface="Segoe UI"/>
                <a:cs typeface="Segoe UI"/>
              </a:rPr>
              <a:t>2.  מתחילים בסקירה הכללית: חמש היכולות, ולחיצה על כרטיס פותחת את התשובה</a:t>
            </a:r>
          </a:p>
          <a:p>
            <a:pPr algn="r" rtl="1">
              <a:spcAft>
                <a:spcPts val="2000"/>
              </a:spcAft>
            </a:pPr>
            <a:r>
              <a:rPr sz="2400" b="0" lang="he-IL">
                <a:solidFill>
                  <a:srgbClr val="1A1A1A"/>
                </a:solidFill>
                <a:latin typeface="Segoe UI"/>
                <a:cs typeface="Segoe UI"/>
              </a:rPr>
              <a:t>3.  בוחרים שאלה, כלומר מסך</a:t>
            </a:r>
          </a:p>
          <a:p>
            <a:pPr algn="r" rtl="1">
              <a:spcAft>
                <a:spcPts val="2000"/>
              </a:spcAft>
            </a:pPr>
            <a:r>
              <a:rPr sz="2400" b="0" lang="he-IL">
                <a:solidFill>
                  <a:srgbClr val="1A1A1A"/>
                </a:solidFill>
                <a:latin typeface="Segoe UI"/>
                <a:cs typeface="Segoe UI"/>
              </a:rPr>
              <a:t>4.  מזינים נתוני לקוח, או בוחרים דוגמה מנתוני העבר</a:t>
            </a:r>
          </a:p>
          <a:p>
            <a:pPr algn="r" rtl="1">
              <a:spcAft>
                <a:spcPts val="2000"/>
              </a:spcAft>
            </a:pPr>
            <a:r>
              <a:rPr sz="2400" b="0" lang="he-IL">
                <a:solidFill>
                  <a:srgbClr val="1A1A1A"/>
                </a:solidFill>
                <a:latin typeface="Segoe UI"/>
                <a:cs typeface="Segoe UI"/>
              </a:rPr>
              <a:t>5.  קוראים את התשובה: מה זה אומר, מה כדאי לעשות, מה חשוב לדעת</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כמה זמן לקוח חדש יישאר?</a:t>
            </a:r>
          </a:p>
        </p:txBody>
      </p:sp>
      <p:pic>
        <p:nvPicPr>
          <p:cNvPr id="4" name="Picture 3" descr="image.png"/>
          <p:cNvPicPr>
            <a:picLocks noChangeAspect="1"/>
          </p:cNvPicPr>
          <p:nvPr/>
        </p:nvPicPr>
        <p:blipFill>
          <a:blip r:embed="rId2"/>
          <a:stretch>
            <a:fillRect/>
          </a:stretch>
        </p:blipFill>
        <p:spPr>
          <a:xfrm>
            <a:off x="831711" y="1371600"/>
            <a:ext cx="3274337" cy="5212080"/>
          </a:xfrm>
          <a:prstGeom prst="rect">
            <a:avLst/>
          </a:prstGeom>
          <a:ln w="12700">
            <a:solidFill>
              <a:srgbClr val="D1D5DB"/>
            </a:solidFill>
          </a:ln>
        </p:spPr>
      </p:pic>
      <p:sp>
        <p:nvSpPr>
          <p:cNvPr id="5" name="TextBox 4"/>
          <p:cNvSpPr txBox="1"/>
          <p:nvPr/>
        </p:nvSpPr>
        <p:spPr>
          <a:xfrm>
            <a:off x="4754880" y="1554480"/>
            <a:ext cx="6858000" cy="4754880"/>
          </a:xfrm>
          <a:prstGeom prst="rect">
            <a:avLst/>
          </a:prstGeom>
          <a:noFill/>
        </p:spPr>
        <p:txBody>
          <a:bodyPr wrap="square">
            <a:spAutoFit/>
          </a:bodyPr>
          <a:lstStyle/>
          <a:p>
            <a:pPr algn="r" rtl="1">
              <a:spcAft>
                <a:spcPts val="2200"/>
              </a:spcAft>
            </a:pPr>
            <a:r>
              <a:rPr sz="2400" b="1" lang="he-IL">
                <a:solidFill>
                  <a:srgbClr val="2563EB"/>
                </a:solidFill>
                <a:latin typeface="Segoe UI"/>
                <a:cs typeface="Segoe UI"/>
              </a:rPr>
              <a:t>אפשר להעריך זאת היטב: </a:t>
            </a:r>
            <a:r>
              <a:rPr sz="2400" b="0" lang="he-IL">
                <a:solidFill>
                  <a:srgbClr val="1A1A1A"/>
                </a:solidFill>
                <a:latin typeface="Segoe UI"/>
                <a:cs typeface="Segoe UI"/>
              </a:rPr>
              <a:t>הטעות הטיפוסית היא כ-2.70 חודשים, על נתונים שהמודל לא ראה.</a:t>
            </a:r>
          </a:p>
          <a:p>
            <a:pPr algn="r" rtl="1">
              <a:spcAft>
                <a:spcPts val="2200"/>
              </a:spcAft>
            </a:pPr>
            <a:r>
              <a:rPr sz="2400" b="1" lang="he-IL">
                <a:solidFill>
                  <a:srgbClr val="2563EB"/>
                </a:solidFill>
                <a:latin typeface="Segoe UI"/>
                <a:cs typeface="Segoe UI"/>
              </a:rPr>
              <a:t>הגורם החזק ביותר: </a:t>
            </a:r>
            <a:r>
              <a:rPr sz="2400" b="0" lang="he-IL">
                <a:solidFill>
                  <a:srgbClr val="1A1A1A"/>
                </a:solidFill>
                <a:latin typeface="Segoe UI"/>
                <a:cs typeface="Segoe UI"/>
              </a:rPr>
              <a:t>מספר השיחות עד סגירה. ככל שנדרשו פחות שיחות, הלקוח נשאר זמן רב יותר.</a:t>
            </a:r>
          </a:p>
          <a:p>
            <a:pPr algn="r" rtl="1">
              <a:spcAft>
                <a:spcPts val="2200"/>
              </a:spcAft>
            </a:pPr>
            <a:r>
              <a:rPr sz="2400" b="1" lang="he-IL">
                <a:solidFill>
                  <a:srgbClr val="4B5563"/>
                </a:solidFill>
                <a:latin typeface="Segoe UI"/>
                <a:cs typeface="Segoe UI"/>
              </a:rPr>
              <a:t>מגבלה: </a:t>
            </a:r>
            <a:r>
              <a:rPr sz="2400" b="0" lang="he-IL">
                <a:solidFill>
                  <a:srgbClr val="4B5563"/>
                </a:solidFill>
                <a:latin typeface="Segoe UI"/>
                <a:cs typeface="Segoe UI"/>
              </a:rPr>
              <a:t>זה קשר תיאורי, לא סיבתי.</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מי צפוי לקנות עוד?</a:t>
            </a:r>
          </a:p>
        </p:txBody>
      </p:sp>
      <p:sp>
        <p:nvSpPr>
          <p:cNvPr id="4" name="Rounded Rectangle 3"/>
          <p:cNvSpPr/>
          <p:nvPr/>
        </p:nvSpPr>
        <p:spPr>
          <a:xfrm>
            <a:off x="6583680" y="1554480"/>
            <a:ext cx="5029200" cy="21945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ctr" rtl="1">
              <a:spcAft>
                <a:spcPts val="600"/>
              </a:spcAft>
            </a:pPr>
            <a:r>
              <a:rPr sz="6000" b="1" lang="he-IL">
                <a:solidFill>
                  <a:srgbClr val="2563EB"/>
                </a:solidFill>
                <a:latin typeface="Segoe UI"/>
                <a:cs typeface="Segoe UI"/>
              </a:rPr>
              <a:t>76.15%</a:t>
            </a:r>
          </a:p>
          <a:p>
            <a:pPr algn="ctr" rtl="1">
              <a:spcAft>
                <a:spcPts val="600"/>
              </a:spcAft>
            </a:pPr>
            <a:r>
              <a:rPr sz="2400" b="0" lang="he-IL">
                <a:solidFill>
                  <a:srgbClr val="1A1A1A"/>
                </a:solidFill>
                <a:latin typeface="Segoe UI"/>
                <a:cs typeface="Segoe UI"/>
              </a:rPr>
              <a:t>מהמקרים המודל צודק</a:t>
            </a:r>
          </a:p>
        </p:txBody>
      </p:sp>
      <p:sp>
        <p:nvSpPr>
          <p:cNvPr id="5" name="Rounded Rectangle 4"/>
          <p:cNvSpPr/>
          <p:nvPr/>
        </p:nvSpPr>
        <p:spPr>
          <a:xfrm>
            <a:off x="1097280" y="1554480"/>
            <a:ext cx="5029200" cy="2194560"/>
          </a:xfrm>
          <a:prstGeom prst="roundRect">
            <a:avLst>
              <a:gd name="adj" fmla="val 8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ctr" rtl="1">
              <a:spcAft>
                <a:spcPts val="600"/>
              </a:spcAft>
            </a:pPr>
            <a:r>
              <a:rPr sz="6000" b="1" lang="he-IL">
                <a:solidFill>
                  <a:srgbClr val="4B5563"/>
                </a:solidFill>
                <a:latin typeface="Segoe UI"/>
                <a:cs typeface="Segoe UI"/>
              </a:rPr>
              <a:t>53.71%</a:t>
            </a:r>
          </a:p>
          <a:p>
            <a:pPr algn="ctr" rtl="1">
              <a:spcAft>
                <a:spcPts val="600"/>
              </a:spcAft>
            </a:pPr>
            <a:r>
              <a:rPr sz="2400" b="0" lang="he-IL">
                <a:solidFill>
                  <a:srgbClr val="1A1A1A"/>
                </a:solidFill>
                <a:latin typeface="Segoe UI"/>
                <a:cs typeface="Segoe UI"/>
              </a:rPr>
              <a:t>בניחוש ”אף אחד לא יקנה“</a:t>
            </a:r>
          </a:p>
        </p:txBody>
      </p:sp>
      <p:sp>
        <p:nvSpPr>
          <p:cNvPr id="6" name="TextBox 5"/>
          <p:cNvSpPr txBox="1"/>
          <p:nvPr/>
        </p:nvSpPr>
        <p:spPr>
          <a:xfrm>
            <a:off x="1097280" y="4023360"/>
            <a:ext cx="10515600" cy="2377440"/>
          </a:xfrm>
          <a:prstGeom prst="rect">
            <a:avLst/>
          </a:prstGeom>
          <a:noFill/>
        </p:spPr>
        <p:txBody>
          <a:bodyPr wrap="square">
            <a:spAutoFit/>
          </a:bodyPr>
          <a:lstStyle/>
          <a:p>
            <a:pPr algn="r" rtl="1">
              <a:spcAft>
                <a:spcPts val="2200"/>
              </a:spcAft>
            </a:pPr>
            <a:r>
              <a:rPr sz="2400" b="1" lang="he-IL">
                <a:solidFill>
                  <a:srgbClr val="2563EB"/>
                </a:solidFill>
                <a:latin typeface="Segoe UI"/>
                <a:cs typeface="Segoe UI"/>
              </a:rPr>
              <a:t>כלל פשוט </a:t>
            </a:r>
            <a:r>
              <a:rPr sz="2400" b="0" lang="he-IL">
                <a:solidFill>
                  <a:srgbClr val="1A1A1A"/>
                </a:solidFill>
                <a:latin typeface="Segoe UI"/>
                <a:cs typeface="Segoe UI"/>
              </a:rPr>
              <a:t>(משך חיים ארוך ועלות רכישה נמוכה) מפספס את רוב הלקוחות הרלוונטיים; המודל מוצא את רובם.</a:t>
            </a:r>
          </a:p>
          <a:p>
            <a:pPr algn="r" rtl="1">
              <a:spcAft>
                <a:spcPts val="2200"/>
              </a:spcAft>
            </a:pPr>
            <a:r>
              <a:rPr sz="2400" b="1" lang="he-IL">
                <a:solidFill>
                  <a:srgbClr val="4B5563"/>
                </a:solidFill>
                <a:latin typeface="Segoe UI"/>
                <a:cs typeface="Segoe UI"/>
              </a:rPr>
              <a:t>מגבלה: </a:t>
            </a:r>
            <a:r>
              <a:rPr sz="2400" b="0" lang="he-IL">
                <a:solidFill>
                  <a:srgbClr val="4B5563"/>
                </a:solidFill>
                <a:latin typeface="Segoe UI"/>
                <a:cs typeface="Segoe UI"/>
              </a:rPr>
              <a:t>הקשר תיאורי, לא סיבתי.</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מי יהפוך ללקוח-על?</a:t>
            </a:r>
          </a:p>
        </p:txBody>
      </p:sp>
      <p:pic>
        <p:nvPicPr>
          <p:cNvPr id="4" name="Picture 3" descr="image.png"/>
          <p:cNvPicPr>
            <a:picLocks noChangeAspect="1"/>
          </p:cNvPicPr>
          <p:nvPr/>
        </p:nvPicPr>
        <p:blipFill>
          <a:blip r:embed="rId2"/>
          <a:stretch>
            <a:fillRect/>
          </a:stretch>
        </p:blipFill>
        <p:spPr>
          <a:xfrm>
            <a:off x="548640" y="1432947"/>
            <a:ext cx="3840480" cy="5089386"/>
          </a:xfrm>
          <a:prstGeom prst="rect">
            <a:avLst/>
          </a:prstGeom>
          <a:ln w="12700">
            <a:solidFill>
              <a:srgbClr val="D1D5DB"/>
            </a:solidFill>
          </a:ln>
        </p:spPr>
      </p:pic>
      <p:sp>
        <p:nvSpPr>
          <p:cNvPr id="5" name="TextBox 4"/>
          <p:cNvSpPr txBox="1"/>
          <p:nvPr/>
        </p:nvSpPr>
        <p:spPr>
          <a:xfrm>
            <a:off x="4754880" y="1554480"/>
            <a:ext cx="6858000" cy="4754880"/>
          </a:xfrm>
          <a:prstGeom prst="rect">
            <a:avLst/>
          </a:prstGeom>
          <a:noFill/>
        </p:spPr>
        <p:txBody>
          <a:bodyPr wrap="square">
            <a:spAutoFit/>
          </a:bodyPr>
          <a:lstStyle/>
          <a:p>
            <a:pPr algn="r" rtl="1">
              <a:spcAft>
                <a:spcPts val="2200"/>
              </a:spcAft>
            </a:pPr>
            <a:r>
              <a:rPr sz="2400" b="1" lang="he-IL">
                <a:solidFill>
                  <a:srgbClr val="2563EB"/>
                </a:solidFill>
                <a:latin typeface="Segoe UI"/>
                <a:cs typeface="Segoe UI"/>
              </a:rPr>
              <a:t>529 לקוחות </a:t>
            </a:r>
            <a:r>
              <a:rPr sz="2400" b="0" lang="he-IL">
                <a:solidFill>
                  <a:srgbClr val="1A1A1A"/>
                </a:solidFill>
                <a:latin typeface="Segoe UI"/>
                <a:cs typeface="Segoe UI"/>
              </a:rPr>
              <a:t>(16.7% מהרוכשים) מייצרים 33.6% מכלל הרווח.</a:t>
            </a:r>
          </a:p>
          <a:p>
            <a:pPr algn="r" rtl="1">
              <a:spcAft>
                <a:spcPts val="2200"/>
              </a:spcAft>
            </a:pPr>
            <a:r>
              <a:rPr sz="2400" b="0" lang="he-IL">
                <a:solidFill>
                  <a:srgbClr val="1A1A1A"/>
                </a:solidFill>
                <a:latin typeface="Segoe UI"/>
                <a:cs typeface="Segoe UI"/>
              </a:rPr>
              <a:t>יש ציון 0–100, אבל הוא חלש מאוד בקבוצת התקציב שבה נמצאים כל לקוחות-העל.</a:t>
            </a:r>
          </a:p>
          <a:p>
            <a:pPr algn="r" rtl="1">
              <a:spcAft>
                <a:spcPts val="2200"/>
              </a:spcAft>
            </a:pPr>
            <a:r>
              <a:rPr sz="2400" b="1" lang="he-IL">
                <a:solidFill>
                  <a:srgbClr val="2563EB"/>
                </a:solidFill>
                <a:latin typeface="Segoe UI"/>
                <a:cs typeface="Segoe UI"/>
              </a:rPr>
              <a:t>לכן הוא מתאים לבדיקה ידנית בלבד, </a:t>
            </a:r>
            <a:r>
              <a:rPr sz="2400" b="0" lang="he-IL">
                <a:solidFill>
                  <a:srgbClr val="1A1A1A"/>
                </a:solidFill>
                <a:latin typeface="Segoe UI"/>
                <a:cs typeface="Segoe UI"/>
              </a:rPr>
              <a:t>לא לסינון אוטומטי.</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האם מעקבים מאוחרים הם בזבוז זמן?</a:t>
            </a:r>
          </a:p>
        </p:txBody>
      </p:sp>
      <p:pic>
        <p:nvPicPr>
          <p:cNvPr id="4" name="Picture 3" descr="image.png"/>
          <p:cNvPicPr>
            <a:picLocks noChangeAspect="1"/>
          </p:cNvPicPr>
          <p:nvPr/>
        </p:nvPicPr>
        <p:blipFill>
          <a:blip r:embed="rId2"/>
          <a:stretch>
            <a:fillRect/>
          </a:stretch>
        </p:blipFill>
        <p:spPr>
          <a:xfrm>
            <a:off x="613094" y="1371600"/>
            <a:ext cx="3254371" cy="5212080"/>
          </a:xfrm>
          <a:prstGeom prst="rect">
            <a:avLst/>
          </a:prstGeom>
          <a:ln w="12700">
            <a:solidFill>
              <a:srgbClr val="D1D5DB"/>
            </a:solidFill>
          </a:ln>
        </p:spPr>
      </p:pic>
      <p:sp>
        <p:nvSpPr>
          <p:cNvPr id="5" name="TextBox 4"/>
          <p:cNvSpPr txBox="1"/>
          <p:nvPr/>
        </p:nvSpPr>
        <p:spPr>
          <a:xfrm>
            <a:off x="4297680" y="1554480"/>
            <a:ext cx="7315200" cy="4754880"/>
          </a:xfrm>
          <a:prstGeom prst="rect">
            <a:avLst/>
          </a:prstGeom>
          <a:noFill/>
        </p:spPr>
        <p:txBody>
          <a:bodyPr wrap="square">
            <a:spAutoFit/>
          </a:bodyPr>
          <a:lstStyle/>
          <a:p>
            <a:pPr algn="r" rtl="1">
              <a:spcAft>
                <a:spcPts val="2200"/>
              </a:spcAft>
            </a:pPr>
            <a:r>
              <a:rPr sz="2400" b="1" lang="he-IL">
                <a:solidFill>
                  <a:srgbClr val="2563EB"/>
                </a:solidFill>
                <a:latin typeface="Segoe UI"/>
                <a:cs typeface="Segoe UI"/>
              </a:rPr>
              <a:t>אין בסיס לעצירה אוטומטית </a:t>
            </a:r>
            <a:r>
              <a:rPr sz="2400" b="0" lang="he-IL">
                <a:solidFill>
                  <a:srgbClr val="1A1A1A"/>
                </a:solidFill>
                <a:latin typeface="Segoe UI"/>
                <a:cs typeface="Segoe UI"/>
              </a:rPr>
              <a:t>אחרי המעקב השלישי.</a:t>
            </a:r>
          </a:p>
          <a:p>
            <a:pPr algn="r" rtl="1">
              <a:spcAft>
                <a:spcPts val="2200"/>
              </a:spcAft>
            </a:pPr>
            <a:r>
              <a:rPr sz="2400" b="0" lang="he-IL">
                <a:solidFill>
                  <a:srgbClr val="1A1A1A"/>
                </a:solidFill>
                <a:latin typeface="Segoe UI"/>
                <a:cs typeface="Segoe UI"/>
              </a:rPr>
              <a:t>הנשירה אחרי המעקב הרביעי היא הנמוכה בשרשרת: 10.4%.</a:t>
            </a:r>
          </a:p>
          <a:p>
            <a:pPr algn="r" rtl="1">
              <a:spcAft>
                <a:spcPts val="2200"/>
              </a:spcAft>
            </a:pPr>
            <a:r>
              <a:rPr sz="2400" b="1" lang="he-IL">
                <a:solidFill>
                  <a:srgbClr val="4B5563"/>
                </a:solidFill>
                <a:latin typeface="Segoe UI"/>
                <a:cs typeface="Segoe UI"/>
              </a:rPr>
              <a:t>מגבלה: </a:t>
            </a:r>
            <a:r>
              <a:rPr sz="2400" b="0" lang="he-IL">
                <a:solidFill>
                  <a:srgbClr val="4B5563"/>
                </a:solidFill>
                <a:latin typeface="Segoe UI"/>
                <a:cs typeface="Segoe UI"/>
              </a:rPr>
              <a:t>הקובץ אינו מונה מעקבים לעסקה בודדת, ולכן המסקנה זהירה.</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לאן להפנות את תקציב הפרסום?</a:t>
            </a:r>
          </a:p>
        </p:txBody>
      </p:sp>
      <p:pic>
        <p:nvPicPr>
          <p:cNvPr id="4" name="Picture 3" descr="image.png"/>
          <p:cNvPicPr>
            <a:picLocks noChangeAspect="1"/>
          </p:cNvPicPr>
          <p:nvPr/>
        </p:nvPicPr>
        <p:blipFill>
          <a:blip r:embed="rId2"/>
          <a:stretch>
            <a:fillRect/>
          </a:stretch>
        </p:blipFill>
        <p:spPr>
          <a:xfrm>
            <a:off x="548640" y="1467862"/>
            <a:ext cx="4206240" cy="5019555"/>
          </a:xfrm>
          <a:prstGeom prst="rect">
            <a:avLst/>
          </a:prstGeom>
          <a:ln w="12700">
            <a:solidFill>
              <a:srgbClr val="D1D5DB"/>
            </a:solidFill>
          </a:ln>
        </p:spPr>
      </p:pic>
      <p:sp>
        <p:nvSpPr>
          <p:cNvPr id="5" name="TextBox 4"/>
          <p:cNvSpPr txBox="1"/>
          <p:nvPr/>
        </p:nvSpPr>
        <p:spPr>
          <a:xfrm>
            <a:off x="5120640" y="1554480"/>
            <a:ext cx="6492240" cy="4754880"/>
          </a:xfrm>
          <a:prstGeom prst="rect">
            <a:avLst/>
          </a:prstGeom>
          <a:noFill/>
        </p:spPr>
        <p:txBody>
          <a:bodyPr wrap="square">
            <a:spAutoFit/>
          </a:bodyPr>
          <a:lstStyle/>
          <a:p>
            <a:pPr algn="r" rtl="1">
              <a:spcAft>
                <a:spcPts val="2200"/>
              </a:spcAft>
            </a:pPr>
            <a:r>
              <a:rPr sz="2400" b="1" lang="he-IL">
                <a:solidFill>
                  <a:srgbClr val="2563EB"/>
                </a:solidFill>
                <a:latin typeface="Segoe UI"/>
                <a:cs typeface="Segoe UI"/>
              </a:rPr>
              <a:t>אין הכרעה: </a:t>
            </a:r>
            <a:r>
              <a:rPr sz="2400" b="0" lang="he-IL">
                <a:solidFill>
                  <a:srgbClr val="1A1A1A"/>
                </a:solidFill>
                <a:latin typeface="Segoe UI"/>
                <a:cs typeface="Segoe UI"/>
              </a:rPr>
              <a:t>הסימולטור והבדיקה לאחור אינם מכריעים.</a:t>
            </a:r>
          </a:p>
          <a:p>
            <a:pPr algn="r" rtl="1">
              <a:spcAft>
                <a:spcPts val="2200"/>
              </a:spcAft>
            </a:pPr>
            <a:r>
              <a:rPr sz="2400" b="0" lang="he-IL">
                <a:solidFill>
                  <a:srgbClr val="1A1A1A"/>
                </a:solidFill>
                <a:latin typeface="Segoe UI"/>
                <a:cs typeface="Segoe UI"/>
              </a:rPr>
              <a:t>100 קמפיינים של ₪500 מדורגים ראשונים, אבל הטווח שלהם חופף ל-25 קמפיינים של ₪2,000.</a:t>
            </a:r>
          </a:p>
          <a:p>
            <a:pPr algn="r" rtl="1">
              <a:spcAft>
                <a:spcPts val="2200"/>
              </a:spcAft>
            </a:pPr>
            <a:r>
              <a:rPr sz="2400" b="1" lang="he-IL">
                <a:solidFill>
                  <a:srgbClr val="2563EB"/>
                </a:solidFill>
                <a:latin typeface="Segoe UI"/>
                <a:cs typeface="Segoe UI"/>
              </a:rPr>
              <a:t>ההמלצה: </a:t>
            </a:r>
            <a:r>
              <a:rPr sz="2400" b="0" lang="he-IL">
                <a:solidFill>
                  <a:srgbClr val="1A1A1A"/>
                </a:solidFill>
                <a:latin typeface="Segoe UI"/>
                <a:cs typeface="Segoe UI"/>
              </a:rPr>
              <a:t>ניסוי מבוקר בקמפיינים של ₪2,000–₪5,000 לפני כל שינוי גדול.</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המודלים שמאחורי התשובות</a:t>
            </a:r>
          </a:p>
        </p:txBody>
      </p:sp>
      <p:sp>
        <p:nvSpPr>
          <p:cNvPr id="4" name="Rounded Rectangle 3"/>
          <p:cNvSpPr/>
          <p:nvPr/>
        </p:nvSpPr>
        <p:spPr>
          <a:xfrm>
            <a:off x="548640" y="1325880"/>
            <a:ext cx="11064240" cy="8229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r" rtl="1">
              <a:spcAft>
                <a:spcPts val="600"/>
              </a:spcAft>
            </a:pPr>
            <a:r>
              <a:rPr sz="2200" b="1" lang="he-IL">
                <a:solidFill>
                  <a:srgbClr val="2563EB"/>
                </a:solidFill>
                <a:latin typeface="Segoe UI"/>
                <a:cs typeface="Segoe UI"/>
              </a:rPr>
              <a:t>משך חיי לקוח — </a:t>
            </a:r>
            <a:r>
              <a:rPr sz="2200" b="1" lang="he-IL">
                <a:solidFill>
                  <a:srgbClr val="1A1A1A"/>
                </a:solidFill>
                <a:latin typeface="Segoe UI"/>
                <a:cs typeface="Segoe UI"/>
              </a:rPr>
              <a:t>CatBoost</a:t>
            </a:r>
          </a:p>
          <a:p>
            <a:pPr algn="r" rtl="1">
              <a:spcAft>
                <a:spcPts val="600"/>
              </a:spcAft>
            </a:pPr>
            <a:r>
              <a:rPr sz="1800" b="0" lang="he-IL">
                <a:solidFill>
                  <a:srgbClr val="4B5563"/>
                </a:solidFill>
                <a:latin typeface="Segoe UI"/>
                <a:cs typeface="Segoe UI"/>
              </a:rPr>
              <a:t>הושוו גם רגרסיה לינארית, ניחוש הממוצע, XGBoost ו-LightGBM; ההבדלים בין העצים זניחים</a:t>
            </a:r>
          </a:p>
        </p:txBody>
      </p:sp>
      <p:sp>
        <p:nvSpPr>
          <p:cNvPr id="5" name="Rounded Rectangle 4"/>
          <p:cNvSpPr/>
          <p:nvPr/>
        </p:nvSpPr>
        <p:spPr>
          <a:xfrm>
            <a:off x="548640" y="2240280"/>
            <a:ext cx="11064240" cy="8229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r" rtl="1">
              <a:spcAft>
                <a:spcPts val="600"/>
              </a:spcAft>
            </a:pPr>
            <a:r>
              <a:rPr sz="2200" b="1" lang="he-IL">
                <a:solidFill>
                  <a:srgbClr val="2563EB"/>
                </a:solidFill>
                <a:latin typeface="Segoe UI"/>
                <a:cs typeface="Segoe UI"/>
              </a:rPr>
              <a:t>הסתברות לרכישה נוספת — </a:t>
            </a:r>
            <a:r>
              <a:rPr sz="2200" b="1" lang="he-IL">
                <a:solidFill>
                  <a:srgbClr val="1A1A1A"/>
                </a:solidFill>
                <a:latin typeface="Segoe UI"/>
                <a:cs typeface="Segoe UI"/>
              </a:rPr>
              <a:t>XGBoost</a:t>
            </a:r>
          </a:p>
          <a:p>
            <a:pPr algn="r" rtl="1">
              <a:spcAft>
                <a:spcPts val="600"/>
              </a:spcAft>
            </a:pPr>
            <a:r>
              <a:rPr sz="1800" b="0" lang="he-IL">
                <a:solidFill>
                  <a:srgbClr val="4B5563"/>
                </a:solidFill>
                <a:latin typeface="Segoe UI"/>
                <a:cs typeface="Segoe UI"/>
              </a:rPr>
              <a:t>הושוו גם רגרסיה לוגיסטית, CatBoost ו-LightGBM</a:t>
            </a:r>
          </a:p>
        </p:txBody>
      </p:sp>
      <p:sp>
        <p:nvSpPr>
          <p:cNvPr id="6" name="Rounded Rectangle 5"/>
          <p:cNvSpPr/>
          <p:nvPr/>
        </p:nvSpPr>
        <p:spPr>
          <a:xfrm>
            <a:off x="548640" y="3154680"/>
            <a:ext cx="11064240" cy="8229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r" rtl="1">
              <a:spcAft>
                <a:spcPts val="600"/>
              </a:spcAft>
            </a:pPr>
            <a:r>
              <a:rPr sz="2200" b="1" lang="he-IL">
                <a:solidFill>
                  <a:srgbClr val="2563EB"/>
                </a:solidFill>
                <a:latin typeface="Segoe UI"/>
                <a:cs typeface="Segoe UI"/>
              </a:rPr>
              <a:t>נטייה להפניה — </a:t>
            </a:r>
            <a:r>
              <a:rPr sz="2200" b="1" lang="he-IL">
                <a:solidFill>
                  <a:srgbClr val="1A1A1A"/>
                </a:solidFill>
                <a:latin typeface="Segoe UI"/>
                <a:cs typeface="Segoe UI"/>
              </a:rPr>
              <a:t>רגרסיה לוגיסטית</a:t>
            </a:r>
          </a:p>
          <a:p>
            <a:pPr algn="r" rtl="1">
              <a:spcAft>
                <a:spcPts val="600"/>
              </a:spcAft>
            </a:pPr>
            <a:r>
              <a:rPr sz="1800" b="0" lang="he-IL">
                <a:solidFill>
                  <a:srgbClr val="4B5563"/>
                </a:solidFill>
                <a:latin typeface="Segoe UI"/>
                <a:cs typeface="Segoe UI"/>
              </a:rPr>
              <a:t>הושווה גם CatBoost; ההפרש בתוך שגיאת התקן, ולכן נבחרה הפשוטה</a:t>
            </a:r>
          </a:p>
        </p:txBody>
      </p:sp>
      <p:sp>
        <p:nvSpPr>
          <p:cNvPr id="7" name="Rounded Rectangle 6"/>
          <p:cNvSpPr/>
          <p:nvPr/>
        </p:nvSpPr>
        <p:spPr>
          <a:xfrm>
            <a:off x="548640" y="4069080"/>
            <a:ext cx="11064240" cy="8229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r" rtl="1">
              <a:spcAft>
                <a:spcPts val="600"/>
              </a:spcAft>
            </a:pPr>
            <a:r>
              <a:rPr sz="2200" b="1" lang="he-IL">
                <a:solidFill>
                  <a:srgbClr val="2563EB"/>
                </a:solidFill>
                <a:latin typeface="Segoe UI"/>
                <a:cs typeface="Segoe UI"/>
              </a:rPr>
              <a:t>ציון לקוח-על — </a:t>
            </a:r>
            <a:r>
              <a:rPr sz="2200" b="1" lang="he-IL">
                <a:solidFill>
                  <a:srgbClr val="1A1A1A"/>
                </a:solidFill>
                <a:latin typeface="Segoe UI"/>
                <a:cs typeface="Segoe UI"/>
              </a:rPr>
              <a:t>CatBoost</a:t>
            </a:r>
          </a:p>
          <a:p>
            <a:pPr algn="r" rtl="1">
              <a:spcAft>
                <a:spcPts val="600"/>
              </a:spcAft>
            </a:pPr>
            <a:r>
              <a:rPr sz="1800" b="0" lang="he-IL">
                <a:solidFill>
                  <a:srgbClr val="4B5563"/>
                </a:solidFill>
                <a:latin typeface="Segoe UI"/>
                <a:cs typeface="Segoe UI"/>
              </a:rPr>
              <a:t>מודל ייעודי כפי שהבריף דורש, אף שהלוגיסטי היה מעט עדיף ב-CV</a:t>
            </a:r>
          </a:p>
        </p:txBody>
      </p:sp>
      <p:sp>
        <p:nvSpPr>
          <p:cNvPr id="8" name="Rounded Rectangle 7"/>
          <p:cNvSpPr/>
          <p:nvPr/>
        </p:nvSpPr>
        <p:spPr>
          <a:xfrm>
            <a:off x="548640" y="4983480"/>
            <a:ext cx="11064240" cy="8229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r" rtl="1">
              <a:spcAft>
                <a:spcPts val="600"/>
              </a:spcAft>
            </a:pPr>
            <a:r>
              <a:rPr sz="2200" b="1" lang="he-IL">
                <a:solidFill>
                  <a:srgbClr val="2563EB"/>
                </a:solidFill>
                <a:latin typeface="Segoe UI"/>
                <a:cs typeface="Segoe UI"/>
              </a:rPr>
              <a:t>תקציב ורווח — </a:t>
            </a:r>
            <a:r>
              <a:rPr sz="2200" b="1" lang="he-IL">
                <a:solidFill>
                  <a:srgbClr val="1A1A1A"/>
                </a:solidFill>
                <a:latin typeface="Segoe UI"/>
                <a:cs typeface="Segoe UI"/>
              </a:rPr>
              <a:t>רגרסיה לינארית</a:t>
            </a:r>
          </a:p>
          <a:p>
            <a:pPr algn="r" rtl="1">
              <a:spcAft>
                <a:spcPts val="600"/>
              </a:spcAft>
            </a:pPr>
            <a:r>
              <a:rPr sz="1800" b="0" lang="he-IL">
                <a:solidFill>
                  <a:srgbClr val="4B5563"/>
                </a:solidFill>
                <a:latin typeface="Segoe UI"/>
                <a:cs typeface="Segoe UI"/>
              </a:rPr>
              <a:t>נבחרה לפי כלל One-SE; הושווה גם מודל עצים</a:t>
            </a:r>
          </a:p>
        </p:txBody>
      </p:sp>
      <p:sp>
        <p:nvSpPr>
          <p:cNvPr id="9" name="TextBox 8"/>
          <p:cNvSpPr txBox="1"/>
          <p:nvPr/>
        </p:nvSpPr>
        <p:spPr>
          <a:xfrm>
            <a:off x="548640" y="5943600"/>
            <a:ext cx="11064240" cy="731520"/>
          </a:xfrm>
          <a:prstGeom prst="rect">
            <a:avLst/>
          </a:prstGeom>
          <a:noFill/>
        </p:spPr>
        <p:txBody>
          <a:bodyPr wrap="square">
            <a:spAutoFit/>
          </a:bodyPr>
          <a:lstStyle/>
          <a:p>
            <a:pPr algn="r" rtl="1">
              <a:spcAft>
                <a:spcPts val="1200"/>
              </a:spcAft>
            </a:pPr>
            <a:r>
              <a:rPr sz="1600" b="0" lang="he-IL">
                <a:solidFill>
                  <a:srgbClr val="4B5563"/>
                </a:solidFill>
                <a:latin typeface="Segoe UI"/>
                <a:cs typeface="Segoe UI"/>
              </a:rPr>
              <a:t>בכל משימה נבדק גם מודל בסיס, ונבחר הפשוט ביותר שבתוך שגיאת תקן אחת מהמוביל. בנוסף: כיול, טווחי ביטחון והסברי SHAP</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גישה ואבטחה</a:t>
            </a:r>
          </a:p>
        </p:txBody>
      </p:sp>
      <p:pic>
        <p:nvPicPr>
          <p:cNvPr id="4" name="Picture 3" descr="image.png"/>
          <p:cNvPicPr>
            <a:picLocks noChangeAspect="1"/>
          </p:cNvPicPr>
          <p:nvPr/>
        </p:nvPicPr>
        <p:blipFill>
          <a:blip r:embed="rId2"/>
          <a:stretch>
            <a:fillRect/>
          </a:stretch>
        </p:blipFill>
        <p:spPr>
          <a:xfrm>
            <a:off x="1438547" y="1417320"/>
            <a:ext cx="3340825" cy="2514600"/>
          </a:xfrm>
          <a:prstGeom prst="rect">
            <a:avLst/>
          </a:prstGeom>
          <a:ln w="12700">
            <a:solidFill>
              <a:srgbClr val="D1D5DB"/>
            </a:solidFill>
          </a:ln>
        </p:spPr>
      </p:pic>
      <p:sp>
        <p:nvSpPr>
          <p:cNvPr id="5" name="TextBox 4"/>
          <p:cNvSpPr txBox="1"/>
          <p:nvPr/>
        </p:nvSpPr>
        <p:spPr>
          <a:xfrm>
            <a:off x="548640" y="3931920"/>
            <a:ext cx="5120640" cy="365760"/>
          </a:xfrm>
          <a:prstGeom prst="rect">
            <a:avLst/>
          </a:prstGeom>
          <a:noFill/>
        </p:spPr>
        <p:txBody>
          <a:bodyPr wrap="square">
            <a:spAutoFit/>
          </a:bodyPr>
          <a:lstStyle/>
          <a:p>
            <a:pPr algn="r" rtl="1">
              <a:spcAft>
                <a:spcPts val="1200"/>
              </a:spcAft>
            </a:pPr>
            <a:r>
              <a:rPr sz="1600" b="0" lang="he-IL">
                <a:solidFill>
                  <a:srgbClr val="4B5563"/>
                </a:solidFill>
                <a:latin typeface="Segoe UI"/>
                <a:cs typeface="Segoe UI"/>
              </a:rPr>
              <a:t>מסך ההתחברות</a:t>
            </a:r>
          </a:p>
        </p:txBody>
      </p:sp>
      <p:pic>
        <p:nvPicPr>
          <p:cNvPr id="6" name="Picture 5" descr="image.png"/>
          <p:cNvPicPr>
            <a:picLocks noChangeAspect="1"/>
          </p:cNvPicPr>
          <p:nvPr/>
        </p:nvPicPr>
        <p:blipFill>
          <a:blip r:embed="rId3"/>
          <a:stretch>
            <a:fillRect/>
          </a:stretch>
        </p:blipFill>
        <p:spPr>
          <a:xfrm>
            <a:off x="548640" y="4487704"/>
            <a:ext cx="5120640" cy="900112"/>
          </a:xfrm>
          <a:prstGeom prst="rect">
            <a:avLst/>
          </a:prstGeom>
          <a:ln w="12700">
            <a:solidFill>
              <a:srgbClr val="D1D5DB"/>
            </a:solidFill>
          </a:ln>
        </p:spPr>
      </p:pic>
      <p:sp>
        <p:nvSpPr>
          <p:cNvPr id="7" name="TextBox 6"/>
          <p:cNvSpPr txBox="1"/>
          <p:nvPr/>
        </p:nvSpPr>
        <p:spPr>
          <a:xfrm>
            <a:off x="548640" y="5440680"/>
            <a:ext cx="5120640" cy="365760"/>
          </a:xfrm>
          <a:prstGeom prst="rect">
            <a:avLst/>
          </a:prstGeom>
          <a:noFill/>
        </p:spPr>
        <p:txBody>
          <a:bodyPr wrap="square">
            <a:spAutoFit/>
          </a:bodyPr>
          <a:lstStyle/>
          <a:p>
            <a:pPr algn="r" rtl="1">
              <a:spcAft>
                <a:spcPts val="1200"/>
              </a:spcAft>
            </a:pPr>
            <a:r>
              <a:rPr sz="1600" b="0" lang="he-IL">
                <a:solidFill>
                  <a:srgbClr val="4B5563"/>
                </a:solidFill>
                <a:latin typeface="Segoe UI"/>
                <a:cs typeface="Segoe UI"/>
              </a:rPr>
              <a:t>משתמש בלי הרשאה: דחייה במסך 403</a:t>
            </a:r>
          </a:p>
        </p:txBody>
      </p:sp>
      <p:sp>
        <p:nvSpPr>
          <p:cNvPr id="8" name="TextBox 7"/>
          <p:cNvSpPr txBox="1"/>
          <p:nvPr/>
        </p:nvSpPr>
        <p:spPr>
          <a:xfrm>
            <a:off x="6035040" y="1554480"/>
            <a:ext cx="5577840" cy="4754880"/>
          </a:xfrm>
          <a:prstGeom prst="rect">
            <a:avLst/>
          </a:prstGeom>
          <a:noFill/>
        </p:spPr>
        <p:txBody>
          <a:bodyPr wrap="square">
            <a:spAutoFit/>
          </a:bodyPr>
          <a:lstStyle/>
          <a:p>
            <a:pPr algn="r" rtl="1">
              <a:spcAft>
                <a:spcPts val="2200"/>
              </a:spcAft>
            </a:pPr>
            <a:r>
              <a:rPr sz="2400" b="0" lang="he-IL">
                <a:solidFill>
                  <a:srgbClr val="1A1A1A"/>
                </a:solidFill>
                <a:latin typeface="Segoe UI"/>
                <a:cs typeface="Segoe UI"/>
              </a:rPr>
              <a:t>רק משתמשי הצוות נכנסים, וכל משתמש רואה רק את הנתונים שמותר לו (הרשאות ברמת השורה במסד).</a:t>
            </a:r>
          </a:p>
          <a:p>
            <a:pPr algn="r" rtl="1">
              <a:spcAft>
                <a:spcPts val="2200"/>
              </a:spcAft>
            </a:pPr>
            <a:r>
              <a:rPr sz="2400" b="1" lang="he-IL">
                <a:solidFill>
                  <a:srgbClr val="2563EB"/>
                </a:solidFill>
                <a:latin typeface="Segoe UI"/>
                <a:cs typeface="Segoe UI"/>
              </a:rPr>
              <a:t>שני חשבונות דמו: </a:t>
            </a:r>
            <a:r>
              <a:rPr sz="2400" b="0" lang="he-IL">
                <a:solidFill>
                  <a:srgbClr val="1A1A1A"/>
                </a:solidFill>
                <a:latin typeface="Segoe UI"/>
                <a:cs typeface="Segoe UI"/>
              </a:rPr>
              <a:t>demo-northbound נכנס; demo-noorg נדחה במסך 403.</a:t>
            </a:r>
          </a:p>
          <a:p>
            <a:pPr algn="r" rtl="1">
              <a:spcAft>
                <a:spcPts val="2200"/>
              </a:spcAft>
            </a:pPr>
            <a:r>
              <a:rPr sz="2400" b="0" lang="he-IL">
                <a:solidFill>
                  <a:srgbClr val="1A1A1A"/>
                </a:solidFill>
                <a:latin typeface="Segoe UI"/>
                <a:cs typeface="Segoe UI"/>
              </a:rPr>
              <a:t>הסיסמאות נמסרות בנפרד ולא מופיעות במצגת.</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914400"/>
          </a:xfrm>
          <a:prstGeom prst="rect">
            <a:avLst/>
          </a:prstGeom>
          <a:noFill/>
        </p:spPr>
        <p:txBody>
          <a:bodyPr wrap="square">
            <a:spAutoFit/>
          </a:bodyPr>
          <a:lstStyle/>
          <a:p>
            <a:pPr algn="r" rtl="1">
              <a:spcAft>
                <a:spcPts val="1200"/>
              </a:spcAft>
            </a:pPr>
            <a:r>
              <a:rPr sz="3400" b="1" lang="he-IL">
                <a:solidFill>
                  <a:srgbClr val="2563EB"/>
                </a:solidFill>
                <a:latin typeface="Segoe UI"/>
                <a:cs typeface="Segoe UI"/>
              </a:rPr>
              <a:t>נסו בעצמכם</a:t>
            </a:r>
          </a:p>
        </p:txBody>
      </p:sp>
      <p:sp>
        <p:nvSpPr>
          <p:cNvPr id="4" name="Rounded Rectangle 3"/>
          <p:cNvSpPr/>
          <p:nvPr/>
        </p:nvSpPr>
        <p:spPr>
          <a:xfrm>
            <a:off x="8046720" y="1463040"/>
            <a:ext cx="3566160" cy="274320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t" lIns="182880" rIns="182880" wrap="square" tIns="182880"/>
          <a:lstStyle/>
          <a:p>
            <a:pPr algn="r" rtl="1">
              <a:spcAft>
                <a:spcPts val="600"/>
              </a:spcAft>
            </a:pPr>
            <a:r>
              <a:rPr sz="2600" b="1" lang="he-IL" u="sng">
                <a:solidFill>
                  <a:srgbClr val="2563EB"/>
                </a:solidFill>
                <a:latin typeface="Segoe UI"/>
                <a:cs typeface="Segoe UI"/>
              </a:rPr>
              <a:t>האפליקציה</a:t>
            </a:r>
          </a:p>
          <a:p>
            <a:pPr algn="r" rtl="1">
              <a:spcAft>
                <a:spcPts val="600"/>
              </a:spcAft>
            </a:pPr>
            <a:r>
              <a:rPr sz="2200" b="0" lang="he-IL">
                <a:solidFill>
                  <a:srgbClr val="2563EB"/>
                </a:solidFill>
                <a:latin typeface="Segoe UI"/>
                <a:cs typeface="Segoe UI"/>
                <a:hlinkClick r:id="rId2"/>
              </a:rPr>
              <a:t>קישור לאפליקציה</a:t>
            </a:r>
          </a:p>
          <a:p>
            <a:pPr algn="r" rtl="1">
              <a:spcAft>
                <a:spcPts val="600"/>
              </a:spcAft>
            </a:pPr>
            <a:r>
              <a:rPr sz="2200" b="0" lang="he-IL">
                <a:solidFill>
                  <a:srgbClr val="2563EB"/>
                </a:solidFill>
                <a:latin typeface="Segoe UI"/>
                <a:cs typeface="Segoe UI"/>
                <a:hlinkClick r:id="rId3"/>
              </a:rPr>
              <a:t>תקינות השרת</a:t>
            </a:r>
          </a:p>
          <a:p>
            <a:pPr algn="r" rtl="1">
              <a:spcAft>
                <a:spcPts val="600"/>
              </a:spcAft>
            </a:pPr>
            <a:r>
              <a:rPr sz="2200" b="0" lang="he-IL">
                <a:solidFill>
                  <a:srgbClr val="2563EB"/>
                </a:solidFill>
                <a:latin typeface="Segoe UI"/>
                <a:cs typeface="Segoe UI"/>
                <a:hlinkClick r:id="rId4"/>
              </a:rPr>
              <a:t>תיעוד API</a:t>
            </a:r>
          </a:p>
        </p:txBody>
      </p:sp>
      <p:sp>
        <p:nvSpPr>
          <p:cNvPr id="5" name="Rounded Rectangle 4"/>
          <p:cNvSpPr/>
          <p:nvPr/>
        </p:nvSpPr>
        <p:spPr>
          <a:xfrm>
            <a:off x="4297681" y="1463040"/>
            <a:ext cx="3566160" cy="274320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t" lIns="182880" rIns="182880" wrap="square" tIns="182880"/>
          <a:lstStyle/>
          <a:p>
            <a:pPr algn="r" rtl="1">
              <a:spcAft>
                <a:spcPts val="600"/>
              </a:spcAft>
            </a:pPr>
            <a:r>
              <a:rPr sz="2600" b="1" lang="he-IL" u="sng">
                <a:solidFill>
                  <a:srgbClr val="2563EB"/>
                </a:solidFill>
                <a:latin typeface="Segoe UI"/>
                <a:cs typeface="Segoe UI"/>
              </a:rPr>
              <a:t>הקוד</a:t>
            </a:r>
          </a:p>
          <a:p>
            <a:pPr algn="r" rtl="1">
              <a:spcAft>
                <a:spcPts val="600"/>
              </a:spcAft>
            </a:pPr>
            <a:r>
              <a:rPr sz="2200" b="0" lang="he-IL">
                <a:solidFill>
                  <a:srgbClr val="2563EB"/>
                </a:solidFill>
                <a:latin typeface="Segoe UI"/>
                <a:cs typeface="Segoe UI"/>
                <a:hlinkClick r:id="rId5"/>
              </a:rPr>
              <a:t>GitHub</a:t>
            </a:r>
          </a:p>
          <a:p>
            <a:pPr algn="r" rtl="1">
              <a:spcAft>
                <a:spcPts val="600"/>
              </a:spcAft>
            </a:pPr>
            <a:r>
              <a:rPr sz="2200" b="0" lang="he-IL">
                <a:solidFill>
                  <a:srgbClr val="2563EB"/>
                </a:solidFill>
                <a:latin typeface="Segoe UI"/>
                <a:cs typeface="Segoe UI"/>
                <a:hlinkClick r:id="rId6"/>
              </a:rPr>
              <a:t>בדיקות CI</a:t>
            </a:r>
          </a:p>
          <a:p>
            <a:pPr algn="r" rtl="1">
              <a:spcAft>
                <a:spcPts val="600"/>
              </a:spcAft>
            </a:pPr>
            <a:r>
              <a:rPr sz="2200" b="0" lang="he-IL">
                <a:solidFill>
                  <a:srgbClr val="2563EB"/>
                </a:solidFill>
                <a:latin typeface="Segoe UI"/>
                <a:cs typeface="Segoe UI"/>
                <a:hlinkClick r:id="rId7"/>
              </a:rPr>
              <a:t>Pull Requests</a:t>
            </a:r>
          </a:p>
        </p:txBody>
      </p:sp>
      <p:sp>
        <p:nvSpPr>
          <p:cNvPr id="6" name="Rounded Rectangle 5"/>
          <p:cNvSpPr/>
          <p:nvPr/>
        </p:nvSpPr>
        <p:spPr>
          <a:xfrm>
            <a:off x="548642" y="1463040"/>
            <a:ext cx="3566160" cy="274320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t" lIns="182880" rIns="182880" wrap="square" tIns="182880"/>
          <a:lstStyle/>
          <a:p>
            <a:pPr algn="r" rtl="1">
              <a:spcAft>
                <a:spcPts val="600"/>
              </a:spcAft>
            </a:pPr>
            <a:r>
              <a:rPr sz="2600" b="1" lang="he-IL" u="sng">
                <a:solidFill>
                  <a:srgbClr val="2563EB"/>
                </a:solidFill>
                <a:latin typeface="Segoe UI"/>
                <a:cs typeface="Segoe UI"/>
              </a:rPr>
              <a:t>תיעוד</a:t>
            </a:r>
          </a:p>
          <a:p>
            <a:pPr algn="r" rtl="1">
              <a:spcAft>
                <a:spcPts val="600"/>
              </a:spcAft>
            </a:pPr>
            <a:r>
              <a:rPr sz="2200" b="0" lang="he-IL">
                <a:solidFill>
                  <a:srgbClr val="2563EB"/>
                </a:solidFill>
                <a:latin typeface="Segoe UI"/>
                <a:cs typeface="Segoe UI"/>
                <a:hlinkClick r:id="rId8"/>
              </a:rPr>
              <a:t>README</a:t>
            </a:r>
          </a:p>
          <a:p>
            <a:pPr algn="r" rtl="1">
              <a:spcAft>
                <a:spcPts val="600"/>
              </a:spcAft>
            </a:pPr>
            <a:r>
              <a:rPr sz="2200" b="0" lang="he-IL">
                <a:solidFill>
                  <a:srgbClr val="2563EB"/>
                </a:solidFill>
                <a:latin typeface="Segoe UI"/>
                <a:cs typeface="Segoe UI"/>
                <a:hlinkClick r:id="rId9"/>
              </a:rPr>
              <a:t>ממצאים</a:t>
            </a:r>
          </a:p>
          <a:p>
            <a:pPr algn="r" rtl="1">
              <a:spcAft>
                <a:spcPts val="600"/>
              </a:spcAft>
            </a:pPr>
            <a:r>
              <a:rPr sz="2200" b="0" lang="he-IL">
                <a:solidFill>
                  <a:srgbClr val="2563EB"/>
                </a:solidFill>
                <a:latin typeface="Segoe UI"/>
                <a:cs typeface="Segoe UI"/>
                <a:hlinkClick r:id="rId10"/>
              </a:rPr>
              <a:t>הבריף המקורי</a:t>
            </a:r>
          </a:p>
          <a:p>
            <a:pPr algn="r" rtl="1">
              <a:spcAft>
                <a:spcPts val="600"/>
              </a:spcAft>
            </a:pPr>
            <a:r>
              <a:rPr sz="2200" b="0" lang="he-IL">
                <a:solidFill>
                  <a:srgbClr val="2563EB"/>
                </a:solidFill>
                <a:latin typeface="Segoe UI"/>
                <a:cs typeface="Segoe UI"/>
                <a:hlinkClick r:id="rId11"/>
              </a:rPr>
              <a:t>ROADMAP</a:t>
            </a:r>
          </a:p>
        </p:txBody>
      </p:sp>
      <p:sp>
        <p:nvSpPr>
          <p:cNvPr id="7" name="Rounded Rectangle 6"/>
          <p:cNvSpPr/>
          <p:nvPr/>
        </p:nvSpPr>
        <p:spPr>
          <a:xfrm>
            <a:off x="548640" y="4389120"/>
            <a:ext cx="11064240" cy="1280160"/>
          </a:xfrm>
          <a:prstGeom prst="roundRect">
            <a:avLst>
              <a:gd name="adj" fmla="val 8000"/>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wrap="square"/>
          <a:lstStyle/>
          <a:p>
            <a:pPr algn="r" rtl="1">
              <a:spcAft>
                <a:spcPts val="600"/>
              </a:spcAft>
            </a:pPr>
            <a:r>
              <a:rPr sz="2000" b="1" lang="he-IL" u="sng">
                <a:solidFill>
                  <a:srgbClr val="2563EB"/>
                </a:solidFill>
                <a:latin typeface="Segoe UI"/>
                <a:cs typeface="Segoe UI"/>
              </a:rPr>
              <a:t>משתמשי דמו</a:t>
            </a:r>
          </a:p>
          <a:p>
            <a:pPr algn="r" rtl="1">
              <a:spcAft>
                <a:spcPts val="600"/>
              </a:spcAft>
            </a:pPr>
            <a:r>
              <a:rPr sz="2000" b="1" lang="he-IL">
                <a:solidFill>
                  <a:srgbClr val="1A1A1A"/>
                </a:solidFill>
                <a:latin typeface="Segoe UI"/>
                <a:cs typeface="Segoe UI"/>
              </a:rPr>
              <a:t>משתמש שנכנס: </a:t>
            </a:r>
            <a:r>
              <a:rPr sz="2000" b="0" lang="he-IL">
                <a:solidFill>
                  <a:srgbClr val="1A1A1A"/>
                </a:solidFill>
                <a:latin typeface="Segoe UI"/>
                <a:cs typeface="Segoe UI"/>
              </a:rPr>
              <a:t>demo-northbound@funneliq.example.com</a:t>
            </a:r>
          </a:p>
          <a:p>
            <a:pPr algn="r" rtl="1">
              <a:spcAft>
                <a:spcPts val="600"/>
              </a:spcAft>
            </a:pPr>
            <a:r>
              <a:rPr sz="2000" b="1" lang="he-IL">
                <a:solidFill>
                  <a:srgbClr val="1A1A1A"/>
                </a:solidFill>
                <a:latin typeface="Segoe UI"/>
                <a:cs typeface="Segoe UI"/>
              </a:rPr>
              <a:t>משתמש שנדחה (403): </a:t>
            </a:r>
            <a:r>
              <a:rPr sz="2000" b="0" lang="he-IL">
                <a:solidFill>
                  <a:srgbClr val="1A1A1A"/>
                </a:solidFill>
                <a:latin typeface="Segoe UI"/>
                <a:cs typeface="Segoe UI"/>
              </a:rPr>
              <a:t>demo-noorg@funneliq.example.com</a:t>
            </a:r>
          </a:p>
        </p:txBody>
      </p:sp>
      <p:sp>
        <p:nvSpPr>
          <p:cNvPr id="8" name="TextBox 7"/>
          <p:cNvSpPr txBox="1"/>
          <p:nvPr/>
        </p:nvSpPr>
        <p:spPr>
          <a:xfrm>
            <a:off x="548640" y="5943600"/>
            <a:ext cx="11064240" cy="548640"/>
          </a:xfrm>
          <a:prstGeom prst="rect">
            <a:avLst/>
          </a:prstGeom>
          <a:noFill/>
        </p:spPr>
        <p:txBody>
          <a:bodyPr wrap="square">
            <a:spAutoFit/>
          </a:bodyPr>
          <a:lstStyle/>
          <a:p>
            <a:pPr algn="r" rtl="1">
              <a:spcAft>
                <a:spcPts val="1200"/>
              </a:spcAft>
            </a:pPr>
            <a:r>
              <a:rPr sz="1800" b="0" lang="he-IL">
                <a:solidFill>
                  <a:srgbClr val="4B5563"/>
                </a:solidFill>
                <a:latin typeface="Segoe UI"/>
                <a:cs typeface="Segoe UI"/>
              </a:rPr>
              <a:t>הפעלה ראשונה של האפליקציה עשויה לקחת עד כ-45 שניות. הסיסמאות נמסרות בנפרד.</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